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0240288" cy="21240750"/>
  <p:notesSz cx="6858000" cy="9144000"/>
  <p:defaultTextStyle>
    <a:defPPr>
      <a:defRPr lang="en-US"/>
    </a:defPPr>
    <a:lvl1pPr marL="0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1pPr>
    <a:lvl2pPr marL="1468960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2pPr>
    <a:lvl3pPr marL="2937920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3pPr>
    <a:lvl4pPr marL="4406878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4pPr>
    <a:lvl5pPr marL="5875841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5pPr>
    <a:lvl6pPr marL="7344803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6pPr>
    <a:lvl7pPr marL="8813761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7pPr>
    <a:lvl8pPr marL="10282723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8pPr>
    <a:lvl9pPr marL="11751686" algn="l" defTabSz="2937920" rtl="0" eaLnBrk="1" latinLnBrk="0" hangingPunct="1">
      <a:defRPr sz="5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8917" userDrawn="1">
          <p15:clr>
            <a:srgbClr val="A4A3A4"/>
          </p15:clr>
        </p15:guide>
        <p15:guide id="2" orient="horz" pos="6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4" autoAdjust="0"/>
    <p:restoredTop sz="94694"/>
  </p:normalViewPr>
  <p:slideViewPr>
    <p:cSldViewPr>
      <p:cViewPr varScale="1">
        <p:scale>
          <a:sx n="25" d="100"/>
          <a:sy n="25" d="100"/>
        </p:scale>
        <p:origin x="1430" y="67"/>
      </p:cViewPr>
      <p:guideLst>
        <p:guide pos="18917"/>
        <p:guide orient="horz" pos="66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685800"/>
            <a:ext cx="48799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1pPr>
    <a:lvl2pPr marL="1468960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2pPr>
    <a:lvl3pPr marL="2937920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3pPr>
    <a:lvl4pPr marL="4406878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4pPr>
    <a:lvl5pPr marL="5875841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5pPr>
    <a:lvl6pPr marL="7344803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6pPr>
    <a:lvl7pPr marL="8813761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7pPr>
    <a:lvl8pPr marL="10282723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8pPr>
    <a:lvl9pPr marL="11751686" algn="l" defTabSz="2937920" rtl="0" eaLnBrk="1" latinLnBrk="0" hangingPunct="1">
      <a:defRPr sz="385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89013" y="685800"/>
            <a:ext cx="4879975" cy="3429000"/>
          </a:xfrm>
        </p:spPr>
        <p:txBody>
          <a:bodyPr/>
          <a:lstStyle/>
          <a:p>
            <a:endParaRPr lang="de-AT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11066-0135-4CAA-8AD4-89A97190AC0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7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4" y="6598414"/>
            <a:ext cx="25704245" cy="45529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36043" y="12036425"/>
            <a:ext cx="21168202" cy="54281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1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13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15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2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776" y="13649165"/>
            <a:ext cx="25704245" cy="4218649"/>
          </a:xfrm>
        </p:spPr>
        <p:txBody>
          <a:bodyPr anchor="t"/>
          <a:lstStyle>
            <a:lvl1pPr algn="l">
              <a:defRPr sz="560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8776" y="9002738"/>
            <a:ext cx="25704245" cy="4646413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262" indent="0">
              <a:buNone/>
              <a:defRPr sz="2521">
                <a:solidFill>
                  <a:schemeClr val="tx1">
                    <a:tint val="75000"/>
                  </a:schemeClr>
                </a:solidFill>
              </a:defRPr>
            </a:lvl2pPr>
            <a:lvl3pPr marL="1280525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788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1051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1313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1578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1840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2103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2017" y="4956177"/>
            <a:ext cx="13356127" cy="14017913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72147" y="4956177"/>
            <a:ext cx="13356127" cy="14017913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1"/>
            </a:lvl4pPr>
            <a:lvl5pPr>
              <a:defRPr sz="2521"/>
            </a:lvl5pPr>
            <a:lvl6pPr>
              <a:defRPr sz="2521"/>
            </a:lvl6pPr>
            <a:lvl7pPr>
              <a:defRPr sz="2521"/>
            </a:lvl7pPr>
            <a:lvl8pPr>
              <a:defRPr sz="2521"/>
            </a:lvl8pPr>
            <a:lvl9pPr>
              <a:defRPr sz="25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025" y="4754602"/>
            <a:ext cx="13361378" cy="1981486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262" indent="0">
              <a:buNone/>
              <a:defRPr sz="2800" b="1"/>
            </a:lvl2pPr>
            <a:lvl3pPr marL="1280525" indent="0">
              <a:buNone/>
              <a:defRPr sz="2521" b="1"/>
            </a:lvl3pPr>
            <a:lvl4pPr marL="1920788" indent="0">
              <a:buNone/>
              <a:defRPr sz="2240" b="1"/>
            </a:lvl4pPr>
            <a:lvl5pPr marL="2561051" indent="0">
              <a:buNone/>
              <a:defRPr sz="2240" b="1"/>
            </a:lvl5pPr>
            <a:lvl6pPr marL="3201313" indent="0">
              <a:buNone/>
              <a:defRPr sz="2240" b="1"/>
            </a:lvl6pPr>
            <a:lvl7pPr marL="3841578" indent="0">
              <a:buNone/>
              <a:defRPr sz="2240" b="1"/>
            </a:lvl7pPr>
            <a:lvl8pPr marL="4481840" indent="0">
              <a:buNone/>
              <a:defRPr sz="2240" b="1"/>
            </a:lvl8pPr>
            <a:lvl9pPr marL="5122103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2025" y="6736079"/>
            <a:ext cx="13361378" cy="12238017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1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61659" y="4754602"/>
            <a:ext cx="13366627" cy="1981486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262" indent="0">
              <a:buNone/>
              <a:defRPr sz="2800" b="1"/>
            </a:lvl2pPr>
            <a:lvl3pPr marL="1280525" indent="0">
              <a:buNone/>
              <a:defRPr sz="2521" b="1"/>
            </a:lvl3pPr>
            <a:lvl4pPr marL="1920788" indent="0">
              <a:buNone/>
              <a:defRPr sz="2240" b="1"/>
            </a:lvl4pPr>
            <a:lvl5pPr marL="2561051" indent="0">
              <a:buNone/>
              <a:defRPr sz="2240" b="1"/>
            </a:lvl5pPr>
            <a:lvl6pPr marL="3201313" indent="0">
              <a:buNone/>
              <a:defRPr sz="2240" b="1"/>
            </a:lvl6pPr>
            <a:lvl7pPr marL="3841578" indent="0">
              <a:buNone/>
              <a:defRPr sz="2240" b="1"/>
            </a:lvl7pPr>
            <a:lvl8pPr marL="4481840" indent="0">
              <a:buNone/>
              <a:defRPr sz="2240" b="1"/>
            </a:lvl8pPr>
            <a:lvl9pPr marL="5122103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61659" y="6736079"/>
            <a:ext cx="13366627" cy="12238017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1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021" y="845697"/>
            <a:ext cx="9948846" cy="3599127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23117" y="845699"/>
            <a:ext cx="16905161" cy="18128391"/>
          </a:xfrm>
        </p:spPr>
        <p:txBody>
          <a:bodyPr/>
          <a:lstStyle>
            <a:lvl1pPr>
              <a:defRPr sz="4483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2021" y="4444826"/>
            <a:ext cx="9948846" cy="14529264"/>
          </a:xfrm>
        </p:spPr>
        <p:txBody>
          <a:bodyPr/>
          <a:lstStyle>
            <a:lvl1pPr marL="0" indent="0">
              <a:buNone/>
              <a:defRPr sz="1960"/>
            </a:lvl1pPr>
            <a:lvl2pPr marL="640262" indent="0">
              <a:buNone/>
              <a:defRPr sz="1680"/>
            </a:lvl2pPr>
            <a:lvl3pPr marL="1280525" indent="0">
              <a:buNone/>
              <a:defRPr sz="1400"/>
            </a:lvl3pPr>
            <a:lvl4pPr marL="1920788" indent="0">
              <a:buNone/>
              <a:defRPr sz="1260"/>
            </a:lvl4pPr>
            <a:lvl5pPr marL="2561051" indent="0">
              <a:buNone/>
              <a:defRPr sz="1260"/>
            </a:lvl5pPr>
            <a:lvl6pPr marL="3201313" indent="0">
              <a:buNone/>
              <a:defRPr sz="1260"/>
            </a:lvl6pPr>
            <a:lvl7pPr marL="3841578" indent="0">
              <a:buNone/>
              <a:defRPr sz="1260"/>
            </a:lvl7pPr>
            <a:lvl8pPr marL="4481840" indent="0">
              <a:buNone/>
              <a:defRPr sz="1260"/>
            </a:lvl8pPr>
            <a:lvl9pPr marL="5122103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7308" y="14868546"/>
            <a:ext cx="18144173" cy="175531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27308" y="1897900"/>
            <a:ext cx="18144173" cy="12744450"/>
          </a:xfrm>
        </p:spPr>
        <p:txBody>
          <a:bodyPr/>
          <a:lstStyle>
            <a:lvl1pPr marL="0" indent="0">
              <a:buNone/>
              <a:defRPr sz="4483"/>
            </a:lvl1pPr>
            <a:lvl2pPr marL="640262" indent="0">
              <a:buNone/>
              <a:defRPr sz="3920"/>
            </a:lvl2pPr>
            <a:lvl3pPr marL="1280525" indent="0">
              <a:buNone/>
              <a:defRPr sz="3360"/>
            </a:lvl3pPr>
            <a:lvl4pPr marL="1920788" indent="0">
              <a:buNone/>
              <a:defRPr sz="2800"/>
            </a:lvl4pPr>
            <a:lvl5pPr marL="2561051" indent="0">
              <a:buNone/>
              <a:defRPr sz="2800"/>
            </a:lvl5pPr>
            <a:lvl6pPr marL="3201313" indent="0">
              <a:buNone/>
              <a:defRPr sz="2800"/>
            </a:lvl6pPr>
            <a:lvl7pPr marL="3841578" indent="0">
              <a:buNone/>
              <a:defRPr sz="2800"/>
            </a:lvl7pPr>
            <a:lvl8pPr marL="4481840" indent="0">
              <a:buNone/>
              <a:defRPr sz="2800"/>
            </a:lvl8pPr>
            <a:lvl9pPr marL="5122103" indent="0">
              <a:buNone/>
              <a:defRPr sz="28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27308" y="16623859"/>
            <a:ext cx="18144173" cy="2492837"/>
          </a:xfrm>
        </p:spPr>
        <p:txBody>
          <a:bodyPr/>
          <a:lstStyle>
            <a:lvl1pPr marL="0" indent="0">
              <a:buNone/>
              <a:defRPr sz="1960"/>
            </a:lvl1pPr>
            <a:lvl2pPr marL="640262" indent="0">
              <a:buNone/>
              <a:defRPr sz="1680"/>
            </a:lvl2pPr>
            <a:lvl3pPr marL="1280525" indent="0">
              <a:buNone/>
              <a:defRPr sz="1400"/>
            </a:lvl3pPr>
            <a:lvl4pPr marL="1920788" indent="0">
              <a:buNone/>
              <a:defRPr sz="1260"/>
            </a:lvl4pPr>
            <a:lvl5pPr marL="2561051" indent="0">
              <a:buNone/>
              <a:defRPr sz="1260"/>
            </a:lvl5pPr>
            <a:lvl6pPr marL="3201313" indent="0">
              <a:buNone/>
              <a:defRPr sz="1260"/>
            </a:lvl6pPr>
            <a:lvl7pPr marL="3841578" indent="0">
              <a:buNone/>
              <a:defRPr sz="1260"/>
            </a:lvl7pPr>
            <a:lvl8pPr marL="4481840" indent="0">
              <a:buNone/>
              <a:defRPr sz="1260"/>
            </a:lvl8pPr>
            <a:lvl9pPr marL="5122103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24215" y="850636"/>
            <a:ext cx="6804067" cy="181234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12014" y="850636"/>
            <a:ext cx="19908190" cy="181234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2015" y="850620"/>
            <a:ext cx="27216259" cy="35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2015" y="4956177"/>
            <a:ext cx="27216259" cy="140179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2017" y="19687045"/>
            <a:ext cx="7056067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BAB4-8B8D-41DD-85C7-81A0CA962007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32099" y="19687045"/>
            <a:ext cx="9576091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72207" y="19687045"/>
            <a:ext cx="7056067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824F-EBE0-443F-8A8F-F64816AF04DC}" type="slidenum">
              <a:rPr lang="en-US" smtClean="0"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525" rtl="0" eaLnBrk="1" latinLnBrk="0" hangingPunct="1">
        <a:spcBef>
          <a:spcPct val="0"/>
        </a:spcBef>
        <a:buNone/>
        <a:defRPr sz="6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198" indent="-480198" algn="l" defTabSz="1280525" rtl="0" eaLnBrk="1" latinLnBrk="0" hangingPunct="1">
        <a:spcBef>
          <a:spcPct val="20000"/>
        </a:spcBef>
        <a:buFont typeface="Arial" pitchFamily="34" charset="0"/>
        <a:buChar char="•"/>
        <a:defRPr sz="4483" kern="1200">
          <a:solidFill>
            <a:schemeClr val="tx1"/>
          </a:solidFill>
          <a:latin typeface="+mn-lt"/>
          <a:ea typeface="+mn-ea"/>
          <a:cs typeface="+mn-cs"/>
        </a:defRPr>
      </a:lvl1pPr>
      <a:lvl2pPr marL="1040428" indent="-400165" algn="l" defTabSz="1280525" rtl="0" eaLnBrk="1" latinLnBrk="0" hangingPunct="1">
        <a:spcBef>
          <a:spcPct val="20000"/>
        </a:spcBef>
        <a:buFont typeface="Arial" pitchFamily="34" charset="0"/>
        <a:buChar char="–"/>
        <a:defRPr sz="3920" kern="1200">
          <a:solidFill>
            <a:schemeClr val="tx1"/>
          </a:solidFill>
          <a:latin typeface="+mn-lt"/>
          <a:ea typeface="+mn-ea"/>
          <a:cs typeface="+mn-cs"/>
        </a:defRPr>
      </a:lvl2pPr>
      <a:lvl3pPr marL="1600656" indent="-320131" algn="l" defTabSz="1280525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240921" indent="-320131" algn="l" defTabSz="128052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1182" indent="-320131" algn="l" defTabSz="1280525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1447" indent="-320131" algn="l" defTabSz="1280525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1708" indent="-320131" algn="l" defTabSz="1280525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1973" indent="-320131" algn="l" defTabSz="1280525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2234" indent="-320131" algn="l" defTabSz="1280525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1pPr>
      <a:lvl2pPr marL="640262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2pPr>
      <a:lvl3pPr marL="1280525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3pPr>
      <a:lvl4pPr marL="1920788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4pPr>
      <a:lvl5pPr marL="2561051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5pPr>
      <a:lvl6pPr marL="3201313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6pPr>
      <a:lvl7pPr marL="3841578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7pPr>
      <a:lvl8pPr marL="4481840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8pPr>
      <a:lvl9pPr marL="5122103" algn="l" defTabSz="1280525" rtl="0" eaLnBrk="1" latinLnBrk="0" hangingPunct="1">
        <a:defRPr sz="25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0CB5A8CA-2EB8-4EB5-9B19-71726DAC6747}"/>
              </a:ext>
            </a:extLst>
          </p:cNvPr>
          <p:cNvSpPr/>
          <p:nvPr/>
        </p:nvSpPr>
        <p:spPr>
          <a:xfrm>
            <a:off x="20761376" y="18932628"/>
            <a:ext cx="8912967" cy="1746147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138FA9-26F0-45C3-BDCD-A3F2C8FABD35}"/>
              </a:ext>
            </a:extLst>
          </p:cNvPr>
          <p:cNvSpPr txBox="1"/>
          <p:nvPr/>
        </p:nvSpPr>
        <p:spPr>
          <a:xfrm>
            <a:off x="23941008" y="18605747"/>
            <a:ext cx="257591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184944" y="180975"/>
            <a:ext cx="29794200" cy="2080260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 dirty="0">
              <a:solidFill>
                <a:srgbClr val="002060"/>
              </a:solidFill>
            </a:endParaRPr>
          </a:p>
        </p:txBody>
      </p:sp>
      <p:sp>
        <p:nvSpPr>
          <p:cNvPr id="5" name="Snip Diagonal Corner Rectangle 4"/>
          <p:cNvSpPr/>
          <p:nvPr/>
        </p:nvSpPr>
        <p:spPr>
          <a:xfrm>
            <a:off x="413544" y="346016"/>
            <a:ext cx="29258368" cy="2730219"/>
          </a:xfrm>
          <a:prstGeom prst="snip2Diag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 dirty="0"/>
          </a:p>
        </p:txBody>
      </p:sp>
      <p:sp>
        <p:nvSpPr>
          <p:cNvPr id="47" name="Rectangle 46"/>
          <p:cNvSpPr/>
          <p:nvPr/>
        </p:nvSpPr>
        <p:spPr>
          <a:xfrm>
            <a:off x="20761376" y="4028734"/>
            <a:ext cx="8912968" cy="1008432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 dirty="0"/>
          </a:p>
        </p:txBody>
      </p:sp>
      <p:sp>
        <p:nvSpPr>
          <p:cNvPr id="52" name="TextBox 51"/>
          <p:cNvSpPr txBox="1"/>
          <p:nvPr/>
        </p:nvSpPr>
        <p:spPr>
          <a:xfrm>
            <a:off x="2263559" y="351882"/>
            <a:ext cx="25222200" cy="2419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6600" b="1" dirty="0">
                <a:latin typeface="Arial" panose="020B0604020202020204" pitchFamily="34" charset="0"/>
                <a:cs typeface="Arial" panose="020B0604020202020204" pitchFamily="34" charset="0"/>
              </a:rPr>
              <a:t>Kolumbien bei Olympia (1896–2016):</a:t>
            </a:r>
          </a:p>
          <a:p>
            <a:pPr algn="ctr"/>
            <a:r>
              <a:rPr lang="de-AT" sz="6600" b="1" dirty="0">
                <a:latin typeface="Arial" panose="020B0604020202020204" pitchFamily="34" charset="0"/>
                <a:cs typeface="Arial" panose="020B0604020202020204" pitchFamily="34" charset="0"/>
              </a:rPr>
              <a:t>Teamwachstum, Frauenanteil und Medaillen nach Sportarten</a:t>
            </a:r>
          </a:p>
          <a:p>
            <a:endParaRPr lang="en-US" sz="1925" b="1" dirty="0">
              <a:ln w="3175">
                <a:noFill/>
              </a:ln>
              <a:solidFill>
                <a:srgbClr val="C00000"/>
              </a:solidFill>
              <a:latin typeface="Bangla MN" charset="0"/>
              <a:ea typeface="Bangla MN" charset="0"/>
              <a:cs typeface="Bangla MN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941008" y="3686175"/>
            <a:ext cx="294062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Key Findings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6944" y="2509421"/>
            <a:ext cx="9807076" cy="359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baseline="300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Erika Liseth Diaz Martinez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9261558" y="3705569"/>
            <a:ext cx="11029979" cy="16973204"/>
            <a:chOff x="965039" y="14597534"/>
            <a:chExt cx="11616995" cy="15310100"/>
          </a:xfrm>
        </p:grpSpPr>
        <p:sp>
          <p:nvSpPr>
            <p:cNvPr id="41" name="Rectangle 40"/>
            <p:cNvSpPr/>
            <p:nvPr/>
          </p:nvSpPr>
          <p:spPr>
            <a:xfrm>
              <a:off x="965039" y="14916091"/>
              <a:ext cx="11616995" cy="14991543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5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885009" y="14597534"/>
              <a:ext cx="2298882" cy="583001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Results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ABD6380-F16B-42AE-AB20-AED81D8BA8F5}"/>
              </a:ext>
            </a:extLst>
          </p:cNvPr>
          <p:cNvSpPr txBox="1"/>
          <p:nvPr/>
        </p:nvSpPr>
        <p:spPr>
          <a:xfrm>
            <a:off x="946944" y="2677068"/>
            <a:ext cx="105852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aseline="300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Applied AI with Python – Final Project</a:t>
            </a:r>
            <a:endParaRPr lang="en-US" sz="2600" dirty="0">
              <a:latin typeface="Arial" panose="020B0604020202020204" pitchFamily="34" charset="0"/>
              <a:ea typeface="Bangla MN" charset="0"/>
              <a:cs typeface="Arial" panose="020B0604020202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3544" y="3731923"/>
            <a:ext cx="8399591" cy="9288816"/>
            <a:chOff x="-15875592" y="17961946"/>
            <a:chExt cx="27958895" cy="24348707"/>
          </a:xfrm>
          <a:solidFill>
            <a:schemeClr val="bg1"/>
          </a:solidFill>
        </p:grpSpPr>
        <p:sp>
          <p:nvSpPr>
            <p:cNvPr id="35" name="Rectangle 34"/>
            <p:cNvSpPr/>
            <p:nvPr/>
          </p:nvSpPr>
          <p:spPr>
            <a:xfrm>
              <a:off x="-15875592" y="18818605"/>
              <a:ext cx="27958895" cy="23492048"/>
            </a:xfrm>
            <a:prstGeom prst="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AT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Kolumbiens olympische Geschichte reflektiert die Transformation eines lateinamerikanischen Landes von sporadischer Teilnahme zur etablierten Sportnation. Diese Analyse untersucht die Entwicklung bei den Olympischen Sommerspielen (1896–2016) in drei Dimensionen: Delegationswachstum, Integration von Athletinnen, und strategische Medaillenkonzentration.</a:t>
              </a:r>
            </a:p>
            <a:p>
              <a:endPara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AT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Basierend auf dem Olympic-Athlete-Events-Dataset für Kolumbien (NOC=COL, Summer Games) werden 120 Jahre olympischer Präsenz analysiert. Die Untersuchung zeigt bemerkenswerte Entwicklungen: Von minimaler Beteiligung (1932: 2 Athlet:innen) steigt die Teamgröße auf 143 (2016) – ein 71-facher Anstieg. Die weibliche Teilnahme beginnt 1968 und erreicht 2012 Parität (55%). Von 27 Medaillen-Events entfallen 59% auf 2012–2016, konzentriert in acht Kernsportarten. </a:t>
              </a:r>
            </a:p>
            <a:p>
              <a:endPara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de-AT" sz="2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Diese Muster deuten auf institutionelle Reformen und gezielte Talentförderung hin.</a:t>
              </a:r>
            </a:p>
            <a:p>
              <a:pPr algn="ctr"/>
              <a:endParaRPr lang="en-US" sz="735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-6683235" y="17961946"/>
              <a:ext cx="8836786" cy="1694223"/>
            </a:xfrm>
            <a:prstGeom prst="rect">
              <a:avLst/>
            </a:prstGeom>
            <a:grp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Abstract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D32A5D87-7F7D-AD4A-AEA5-662F84FE5E2D}"/>
              </a:ext>
            </a:extLst>
          </p:cNvPr>
          <p:cNvSpPr/>
          <p:nvPr/>
        </p:nvSpPr>
        <p:spPr>
          <a:xfrm>
            <a:off x="413544" y="13862397"/>
            <a:ext cx="8399591" cy="681637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Daten: athlete_events.csv + noc_regions.csv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Filter: NOC = COL, Season = Summer (1896–2016)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Teamgröße: Anzahl eindeutiger Athlet:innen (ID-basiert) pro olympische Edition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Frauenanteil: F/(F+M) pro Jahr, berechnet aus unique athletes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Medaillen: Deduplizierte Medaillen-Events (27 total; Duplikate über Year, City, Sport, Event, NOC, Medal entfernt)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Outlier-Behandlung: Eintrag 1900 (Tug-of-War, Silber; Team "Racing Club de France") dokumentiert aber nicht in Trendanalyse inkludiert; Hauptfokus 1932–2016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de-AT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Visualisierungen: Zeitreihen, gestapelte Balkendiagramme, Heatmap (Sport×Jahr), geografische Karte mit proportionalen Symbolen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5F8FE6-358E-B041-960A-E8BB7198256E}"/>
              </a:ext>
            </a:extLst>
          </p:cNvPr>
          <p:cNvSpPr txBox="1"/>
          <p:nvPr/>
        </p:nvSpPr>
        <p:spPr>
          <a:xfrm>
            <a:off x="3505761" y="13557597"/>
            <a:ext cx="1993623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E7316BB8-092B-50F8-DD57-9FA1AE60F241}"/>
              </a:ext>
            </a:extLst>
          </p:cNvPr>
          <p:cNvSpPr txBox="1"/>
          <p:nvPr/>
        </p:nvSpPr>
        <p:spPr>
          <a:xfrm>
            <a:off x="20761375" y="4334755"/>
            <a:ext cx="8912967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Analyse dokumentiert Kolumbiens olympische Transformation in drei Phasen:</a:t>
            </a:r>
          </a:p>
          <a:p>
            <a:endParaRPr lang="de-A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– Sporadische Präsenz (1932–1964): Minimale Delegationen (Durchschnitt 6 Athlet:innen), ausschließlich männliche Teilnahme, keine systematische Medaillengewinnung.</a:t>
            </a:r>
          </a:p>
          <a:p>
            <a:endParaRPr lang="de-A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– Konsolidierung (1968–2000): Erste weibliche Athletinnen erscheinen 1968 (5 Teilnehmerinnen). Teamgrößen wachsen moderat auf  durchschnittlich 25, mit ersten konsistenten Medaillen in Boxing, Weightlifting und Cycling. Der Frauenanteil steigt auf ~20%.</a:t>
            </a:r>
          </a:p>
          <a:p>
            <a:endParaRPr lang="de-A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– Expansion (2004–2016): Dramatische Beschleunigung mit Teamgrößen von 68 (2004) bis 143 (2016). Weibliche Beteiligung erreicht 2012 Höhepunkt (55,4%), stabilisiert sich 2016 bei 49%. Von 27 Gesamt-Medaillen entfallen 16 auf diese Phase (59%), verteilt auf acht Sportarten: Cycling, Athletics, Boxing, Weightlifting,Taekwondo, Wrestling, Judo, Shooting.</a:t>
            </a:r>
          </a:p>
          <a:p>
            <a:endParaRPr lang="de-A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geografische Verteilung zeigt Medaillen-Konzentration in der </a:t>
            </a: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modernen Ära: London 2012 und Rio 2016 dominieren (je 8 Events), während München 1972 (3), Athen 2004 (2) und Beijing 2008 (2) frühere Erfolge markieren..</a:t>
            </a:r>
          </a:p>
        </p:txBody>
      </p:sp>
      <p:sp>
        <p:nvSpPr>
          <p:cNvPr id="3" name="Rectangle 56">
            <a:extLst>
              <a:ext uri="{FF2B5EF4-FFF2-40B4-BE49-F238E27FC236}">
                <a16:creationId xmlns:a16="http://schemas.microsoft.com/office/drawing/2014/main" id="{E4D063F6-C83B-7C6D-5316-3579199D3572}"/>
              </a:ext>
            </a:extLst>
          </p:cNvPr>
          <p:cNvSpPr/>
          <p:nvPr/>
        </p:nvSpPr>
        <p:spPr>
          <a:xfrm>
            <a:off x="20761376" y="14575253"/>
            <a:ext cx="8912968" cy="3983827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 dirty="0"/>
          </a:p>
        </p:txBody>
      </p:sp>
      <p:sp>
        <p:nvSpPr>
          <p:cNvPr id="4" name="TextBox 57">
            <a:extLst>
              <a:ext uri="{FF2B5EF4-FFF2-40B4-BE49-F238E27FC236}">
                <a16:creationId xmlns:a16="http://schemas.microsoft.com/office/drawing/2014/main" id="{1910A20E-70FE-ED6F-7A3E-3DC57844683F}"/>
              </a:ext>
            </a:extLst>
          </p:cNvPr>
          <p:cNvSpPr txBox="1"/>
          <p:nvPr/>
        </p:nvSpPr>
        <p:spPr>
          <a:xfrm>
            <a:off x="23661140" y="14154837"/>
            <a:ext cx="2948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86EE065-BA9A-1287-E42C-62BB26EE7E01}"/>
              </a:ext>
            </a:extLst>
          </p:cNvPr>
          <p:cNvSpPr txBox="1"/>
          <p:nvPr/>
        </p:nvSpPr>
        <p:spPr>
          <a:xfrm>
            <a:off x="20758944" y="14777110"/>
            <a:ext cx="89129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3" indent="-171443">
              <a:buFont typeface="Arial" panose="020B0604020202020204" pitchFamily="34" charset="0"/>
              <a:buChar char="•"/>
            </a:pPr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71-fache Teamwachstum seit 1932 korreliert mit institutionellen Sportreformen und gezielten Investitionen ab den 1990er-Jahren.</a:t>
            </a:r>
          </a:p>
          <a:p>
            <a:pPr marL="171443" indent="-171443">
              <a:buFont typeface="Arial" panose="020B0604020202020204" pitchFamily="34" charset="0"/>
              <a:buChar char="•"/>
            </a:pPr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Geschlechterparität 2012 (55% Frauen) demonstriert erfolgreiche Umsetzung von IOC-Gleichstellungszielen und nationalen Förderprogrammen.</a:t>
            </a:r>
          </a:p>
          <a:p>
            <a:pPr marL="171443" indent="-171443">
              <a:buFont typeface="Arial" panose="020B0604020202020204" pitchFamily="34" charset="0"/>
              <a:buChar char="•"/>
            </a:pPr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Medaillenkonzentration in 8 Kernsportarten (59% aller Medaillen 2012–2016) zeigt effizientes Ressourcen-Management statt Breiten-ansatz.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DC6FB7C-69FA-5615-5007-75EE935D2868}"/>
              </a:ext>
            </a:extLst>
          </p:cNvPr>
          <p:cNvSpPr txBox="1"/>
          <p:nvPr/>
        </p:nvSpPr>
        <p:spPr>
          <a:xfrm>
            <a:off x="20758944" y="19309913"/>
            <a:ext cx="89129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Olympic Athlete Events Dataset (athlete_events.csv, noc_regions.csv) — source: Kaggle / course material.</a:t>
            </a:r>
          </a:p>
          <a:p>
            <a:r>
              <a:rPr lang="de-A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 LV: Applied AI with Python (2025).</a:t>
            </a:r>
          </a:p>
        </p:txBody>
      </p:sp>
      <p:pic>
        <p:nvPicPr>
          <p:cNvPr id="29" name="Grafik 28" descr="Scan mich!&#10;">
            <a:extLst>
              <a:ext uri="{FF2B5EF4-FFF2-40B4-BE49-F238E27FC236}">
                <a16:creationId xmlns:a16="http://schemas.microsoft.com/office/drawing/2014/main" id="{5F80B9BF-5724-D779-3E0F-28A7BA4A29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0744" y="943659"/>
            <a:ext cx="1828116" cy="1828116"/>
          </a:xfrm>
          <a:prstGeom prst="rect">
            <a:avLst/>
          </a:prstGeom>
        </p:spPr>
      </p:pic>
      <p:pic>
        <p:nvPicPr>
          <p:cNvPr id="7" name="Grafik 6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03C26740-6D2B-1531-4BD0-CCAF415ED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944" y="4448175"/>
            <a:ext cx="6019800" cy="3813762"/>
          </a:xfrm>
          <a:prstGeom prst="rect">
            <a:avLst/>
          </a:prstGeom>
        </p:spPr>
      </p:pic>
      <p:pic>
        <p:nvPicPr>
          <p:cNvPr id="10" name="Grafik 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87CAEDA-A3AF-FC43-1A4B-3FD878A85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014" y="8181975"/>
            <a:ext cx="6042187" cy="3813762"/>
          </a:xfrm>
          <a:prstGeom prst="rect">
            <a:avLst/>
          </a:prstGeom>
        </p:spPr>
      </p:pic>
      <p:pic>
        <p:nvPicPr>
          <p:cNvPr id="12" name="Grafik 11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66B6E540-B3FD-18C2-F967-C921A9C23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493" y="11763375"/>
            <a:ext cx="5753451" cy="3841100"/>
          </a:xfrm>
          <a:prstGeom prst="rect">
            <a:avLst/>
          </a:prstGeom>
        </p:spPr>
      </p:pic>
      <p:pic>
        <p:nvPicPr>
          <p:cNvPr id="14" name="Grafik 13" descr="Ein Bild, das Text, Karte, Atlas enthält.&#10;&#10;KI-generierte Inhalte können fehlerhaft sein.">
            <a:extLst>
              <a:ext uri="{FF2B5EF4-FFF2-40B4-BE49-F238E27FC236}">
                <a16:creationId xmlns:a16="http://schemas.microsoft.com/office/drawing/2014/main" id="{C920D922-8425-433C-1B49-A91D0917D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9144" y="15694672"/>
            <a:ext cx="9277350" cy="49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Benutzerdefiniert</PresentationFormat>
  <Paragraphs>38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Bangla MN</vt:lpstr>
      <vt:lpstr>Calibri</vt:lpstr>
      <vt:lpstr>Times New Roman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2012-08-24T00:53:15Z</dcterms:created>
  <dcterms:modified xsi:type="dcterms:W3CDTF">2026-01-21T20:36:38Z</dcterms:modified>
</cp:coreProperties>
</file>